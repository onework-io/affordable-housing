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ed01e55f-9e78-3814-4ac9-177f2d360c20}">
          <p14:sldIdLst>
            <p14:sldId id="256"/>
          </p14:sldIdLst>
        </p14:section>
        <p14:section name="專案與 PoC" id="{f21b5a70-9728-6f63-ffbb-93bd314b0e70}">
          <p14:sldIdLst>
            <p14:sldId id="257"/>
            <p14:sldId id="258"/>
          </p14:sldIdLst>
        </p14:section>
        <p14:section name="功能示範" id="{a6955f23-e6cf-239c-1664-343e0d2550bd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優規功能" id="{33a963b0-8f8a-b546-82e5-e6716a8e1c40}">
          <p14:sldIdLst>
            <p14:sldId id="269"/>
            <p14:sldId id="270"/>
            <p14:sldId id="271"/>
            <p14:sldId id="272"/>
            <p14:sldId id="273"/>
          </p14:sldIdLst>
        </p14:section>
        <p14:section name="資料與後續" id="{8035ac15-9fb8-827d-6ee1-f99c8c975db5}">
          <p14:sldIdLst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本簡報介紹可負擔住宅三維圖台的技術驗證成果。所有社區、房源與設施皆為示範資料；3D 模型為替代模型。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對應提案簡報的三個操作情境：房源看得清楚、生活範圍可設定、看屋流程可銜接。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2D 與 3D 是同一個地圖實例，只切換視角，選取的建案、查詢條件與生活圈設定都不會遺失。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2D／3D 圖台與底圖：國土測繪中心電子地圖、正射影像一鍵切換；桃園市 3D 建物（內政部三維建物，含實測高度）呈現城市脈絡；2D／3D 是同一個地圖：切換時選取與查詢條件都保留。影片為實際操作錄影（已加速）。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自訂生活圈：交通方式（步行／開車）× 時間 5–30 分鐘；半徑＝設定速度 × 時間，圈內住宅與設施即時更新；可改以工作地點、學校為中心找住宅。影片為實際操作錄影（已加速）。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社區 → 房源 → 戶別：點社區看總戶數、平台列出售中戶數；房源清單：戶別、格局、坪數、總價；選擇戶別，3D 模型即標示所在樓層。影片為實際操作錄影（已加速）。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 3D 模型上點樓層：點 3D 圖台上的 BIM 模型，切換為單棟檢視並標出該樓層；右側列出該層全部戶別與銷售狀態，可再點戶別看詳細；樓層索引標示各層銷售中戶數，一點即換層。影片為實際操作錄影（已加速）。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尚無 BIM 的社區：量體示意：未取得模型的社區以量體呈現，流程不中斷；選擇戶別時以樓層切片標示；取得 BIM 後於後台更換對應即可。影片為實際操作錄影（已加速）。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生活設施 3D 立標與社區範圍：生活圈內設施以 3D 立標標示，依類別開關；點選桃園市社區範圍，查看名稱、戶數、樓層；桃園市 3D 建物、社區範圍可各自開關。影片為實際操作錄影（已加速）。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條件篩選與社區比較：依總價、坪數、房數、是否有 720 環景篩選銷售中戶別；地圖標籤與圈內清單只留下符合的社區，並顯示符合戶數；最多 3 個社區並列比較：價格、單價、環景、周邊 1 公里生活機能，綠底標示最佳。影片為實際操作錄影（已加速）。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線上賞屋：720 環景串接：戶別詳細頁「開啟 720 環景看屋」直接進入室內環景；拖曳即可 360° 環視；PoC 以 AIHouse 720 作示範連結（非本戶實景）；正式版每戶對應既有環景平台連結，由後台「環景連結管理」維護。影片為實際操作錄影（已加速）。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後台管理系統：9 項功能：社區與模型對應、戶別、環景連結、生活設施、生活圈參數、同步紀錄、帳號權限、操作紀錄；新增社區（尚無 BIM 以量體示意）→ 前台立即呈現；生活圈速度等參數由後台設定，前台即時套用；每一步操作皆留存紀錄。影片為實際操作錄影（已加速）。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優規：公車站牌、動態 3D 公車、單棟 three.js 檢視、3D GIS 視野分析。皆以實際操作錄影展示。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公車站牌與經過路線：桃園區 424 個公車站牌真實位置（OpenStreetMap），標示經過路線數；點站牌列出各路線與起訖站；生活機能與社區比較加入公車站數、路線數、最近站；路線資料：桃園市公車動態資訊系統（2017）；正式版改接交通部 TDX。影片為實際操作錄影（已加速）。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動態 3D 公車：87 條路線依站序沿 OSM 路網行駛，3D 車身＋行駛軌跡；1×／10×／30× 倍速；點公車標出整條路線；目前為模擬；正式版改接 TDX 公車即時位置即為實際動態。影片為實際操作錄影（已加速）。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單棟 three.js 檢視：點 BIM 模型即切換為單棟 3D，環繞、縮放、平移；剖切樓層、分層展開、棟別篩選，看清每一層；樓層索引顯示各層銷售中戶數，與右側房源清單連動。影片為實際操作錄影（已加速）。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3D GIS 視野分析：從選定樓層以視線演算法（Line of Sight）計算可見範圍；綠＝看得到、紅＝被建物遮蔽；顯示可見面積比例；建物高度取自桃園市三維建物（4 公尺網格），可比較不同樓層景觀。影片為實際操作錄影（已加速）。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桃園市地政局的圖層目前只在內部展示使用，正式採用前須向地政局申請。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7772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A7F3D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2A2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可負擔住宅三維圖台 PoC｜示範資料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6-1.mp4"/><Relationship Id="rId2" Type="http://schemas.microsoft.com/office/2007/relationships/media" Target="../media/media-6-1.mp4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7-1.mp4"/><Relationship Id="rId2" Type="http://schemas.microsoft.com/office/2007/relationships/media" Target="../media/media-7-1.mp4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8-1.mp4"/><Relationship Id="rId2" Type="http://schemas.microsoft.com/office/2007/relationships/media" Target="../media/media-8-1.mp4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video" Target="../media/media-9-1.mp4"/><Relationship Id="rId2" Type="http://schemas.microsoft.com/office/2007/relationships/media" Target="../media/media-9-1.mp4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1-1.mp4"/><Relationship Id="rId2" Type="http://schemas.microsoft.com/office/2007/relationships/media" Target="../media/media-11-1.mp4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2-1.mp4"/><Relationship Id="rId2" Type="http://schemas.microsoft.com/office/2007/relationships/media" Target="../media/media-12-1.mp4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3-1.mp4"/><Relationship Id="rId2" Type="http://schemas.microsoft.com/office/2007/relationships/media" Target="../media/media-13-1.mp4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5-1.mp4"/><Relationship Id="rId2" Type="http://schemas.microsoft.com/office/2007/relationships/media" Target="../media/media-15-1.mp4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6-1.mp4"/><Relationship Id="rId2" Type="http://schemas.microsoft.com/office/2007/relationships/media" Target="../media/media-16-1.mp4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7-1.mp4"/><Relationship Id="rId2" Type="http://schemas.microsoft.com/office/2007/relationships/media" Target="../media/media-17-1.mp4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8-1.mp4"/><Relationship Id="rId2" Type="http://schemas.microsoft.com/office/2007/relationships/media" Target="../media/media-18-1.mp4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screenshot" descr="assets/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0"/>
            <a:ext cx="6522415" cy="6858000"/>
          </a:xfrm>
          <a:prstGeom prst="rect">
            <a:avLst/>
          </a:prstGeom>
        </p:spPr>
      </p:pic>
      <p:sp>
        <p:nvSpPr>
          <p:cNvPr id="3" name="cover panel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sp>
        <p:nvSpPr>
          <p:cNvPr id="4" name="pill PoC 功能介紹"/>
          <p:cNvSpPr/>
          <p:nvPr/>
        </p:nvSpPr>
        <p:spPr>
          <a:xfrm>
            <a:off x="548640" y="14630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F3D0"/>
                </a:solidFill>
              </a:rPr>
              <a:t>PoC 功能介紹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可負擔住宅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三維圖台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F3D0"/>
                </a:solidFill>
              </a:rPr>
              <a:t>2D／3D 圖台・自訂生活圈・房源與 720 環景串接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1206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桃園市可負擔住宅三維圖台系統建置案｜技術驗證（PoC）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中華民國 115 年 10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PoC 先驗證提案中風險最高的三件事</a:t>
            </a:r>
            <a:endParaRPr lang="en-US" sz="3000" dirty="0"/>
          </a:p>
        </p:txBody>
      </p:sp>
      <p:sp>
        <p:nvSpPr>
          <p:cNvPr id="3" name="card 房源看得清楚"/>
          <p:cNvSpPr/>
          <p:nvPr/>
        </p:nvSpPr>
        <p:spPr>
          <a:xfrm>
            <a:off x="548640" y="14173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7FBF9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" name="icon 3D"/>
          <p:cNvSpPr/>
          <p:nvPr/>
        </p:nvSpPr>
        <p:spPr>
          <a:xfrm>
            <a:off x="868680" y="1783080"/>
            <a:ext cx="566928" cy="5669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22"/>
                </a:solidFill>
              </a:rPr>
              <a:t>房源看得清楚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BIM 模型能放上網頁圖台、對到真實位置，並能點到樓層、標出戶別所在樓層</a:t>
            </a:r>
            <a:endParaRPr lang="en-US" sz="1500" dirty="0"/>
          </a:p>
        </p:txBody>
      </p:sp>
      <p:sp>
        <p:nvSpPr>
          <p:cNvPr id="8" name="pill 分層模型＋樓層點選"/>
          <p:cNvSpPr/>
          <p:nvPr/>
        </p:nvSpPr>
        <p:spPr>
          <a:xfrm>
            <a:off x="868680" y="434340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34340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分層模型＋樓層點選</a:t>
            </a:r>
            <a:endParaRPr lang="en-US" sz="1200" dirty="0"/>
          </a:p>
        </p:txBody>
      </p:sp>
      <p:sp>
        <p:nvSpPr>
          <p:cNvPr id="10" name="pill 桃園市 3D 建物城市脈絡"/>
          <p:cNvSpPr/>
          <p:nvPr/>
        </p:nvSpPr>
        <p:spPr>
          <a:xfrm>
            <a:off x="868680" y="4782312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78231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桃園市 3D 建物城市脈絡</a:t>
            </a:r>
            <a:endParaRPr lang="en-US" sz="1200" dirty="0"/>
          </a:p>
        </p:txBody>
      </p:sp>
      <p:sp>
        <p:nvSpPr>
          <p:cNvPr id="12" name="card 生活範圍可設定"/>
          <p:cNvSpPr/>
          <p:nvPr/>
        </p:nvSpPr>
        <p:spPr>
          <a:xfrm>
            <a:off x="4398264" y="14173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7FBF9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icon 圈"/>
          <p:cNvSpPr/>
          <p:nvPr/>
        </p:nvSpPr>
        <p:spPr>
          <a:xfrm>
            <a:off x="4718304" y="1783080"/>
            <a:ext cx="566928" cy="5669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18304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圈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18304" y="25603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22"/>
                </a:solidFill>
              </a:rPr>
              <a:t>生活範圍可設定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718304" y="31546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以 15 分鐘生活圈為起點，自選步行／開車與時間，查詢圈內住宅與生活設施</a:t>
            </a:r>
            <a:endParaRPr lang="en-US" sz="1500" dirty="0"/>
          </a:p>
        </p:txBody>
      </p:sp>
      <p:sp>
        <p:nvSpPr>
          <p:cNvPr id="17" name="pill 從住宅看生活"/>
          <p:cNvSpPr/>
          <p:nvPr/>
        </p:nvSpPr>
        <p:spPr>
          <a:xfrm>
            <a:off x="4718304" y="434340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18304" y="434340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從住宅看生活</a:t>
            </a:r>
            <a:endParaRPr lang="en-US" sz="1200" dirty="0"/>
          </a:p>
        </p:txBody>
      </p:sp>
      <p:sp>
        <p:nvSpPr>
          <p:cNvPr id="19" name="pill 從重要地點找住宅"/>
          <p:cNvSpPr/>
          <p:nvPr/>
        </p:nvSpPr>
        <p:spPr>
          <a:xfrm>
            <a:off x="4718304" y="4782312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18304" y="478231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從重要地點找住宅</a:t>
            </a:r>
            <a:endParaRPr lang="en-US" sz="1200" dirty="0"/>
          </a:p>
        </p:txBody>
      </p:sp>
      <p:sp>
        <p:nvSpPr>
          <p:cNvPr id="21" name="card 看屋流程可銜接"/>
          <p:cNvSpPr/>
          <p:nvPr/>
        </p:nvSpPr>
        <p:spPr>
          <a:xfrm>
            <a:off x="8247888" y="14173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7FBF9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2" name="icon 屋"/>
          <p:cNvSpPr/>
          <p:nvPr/>
        </p:nvSpPr>
        <p:spPr>
          <a:xfrm>
            <a:off x="8567928" y="1783080"/>
            <a:ext cx="566928" cy="5669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6792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屋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567928" y="25603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A22"/>
                </a:solidFill>
              </a:rPr>
              <a:t>看屋流程可銜接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567928" y="31546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從全市住宅 → 社區 → 戶別 → 720 環景，一路在同一個畫面完成</a:t>
            </a:r>
            <a:endParaRPr lang="en-US" sz="1500" dirty="0"/>
          </a:p>
        </p:txBody>
      </p:sp>
      <p:sp>
        <p:nvSpPr>
          <p:cNvPr id="26" name="pill 2D／3D 狀態同步"/>
          <p:cNvSpPr/>
          <p:nvPr/>
        </p:nvSpPr>
        <p:spPr>
          <a:xfrm>
            <a:off x="8567928" y="434340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67928" y="434340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2D／3D 狀態同步</a:t>
            </a:r>
            <a:endParaRPr lang="en-US" sz="1200" dirty="0"/>
          </a:p>
        </p:txBody>
      </p:sp>
      <p:sp>
        <p:nvSpPr>
          <p:cNvPr id="28" name="pill 環景外部連結"/>
          <p:cNvSpPr/>
          <p:nvPr/>
        </p:nvSpPr>
        <p:spPr>
          <a:xfrm>
            <a:off x="8567928" y="4782312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67928" y="4782312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環景外部連結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技術架構：一個地圖同時做 2D 與 3D</a:t>
            </a:r>
            <a:endParaRPr lang="en-US" sz="3000" dirty="0"/>
          </a:p>
        </p:txBody>
      </p:sp>
      <p:sp>
        <p:nvSpPr>
          <p:cNvPr id="3" name="layer 前台圖台"/>
          <p:cNvSpPr/>
          <p:nvPr/>
        </p:nvSpPr>
        <p:spPr>
          <a:xfrm>
            <a:off x="548640" y="137160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前台圖台</a:t>
            </a:r>
            <a:endParaRPr lang="en-US" sz="1800" dirty="0"/>
          </a:p>
        </p:txBody>
      </p:sp>
      <p:sp>
        <p:nvSpPr>
          <p:cNvPr id="5" name="desc 前台圖台"/>
          <p:cNvSpPr/>
          <p:nvPr/>
        </p:nvSpPr>
        <p:spPr>
          <a:xfrm>
            <a:off x="2834640" y="1371600"/>
            <a:ext cx="8808415" cy="960120"/>
          </a:xfrm>
          <a:prstGeom prst="roundRect">
            <a:avLst>
              <a:gd name="adj" fmla="val 9524"/>
            </a:avLst>
          </a:prstGeom>
          <a:solidFill>
            <a:srgbClr val="F7FB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63240" y="1444752"/>
            <a:ext cx="8351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22"/>
                </a:solidFill>
              </a:rPr>
              <a:t>React・TypeScript・Vite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MapLibre GL（底圖、建物擠出）＋ deck.gl（BIM 分層模型、生活圈、設施立標）</a:t>
            </a:r>
            <a:endParaRPr lang="en-US" sz="1600" dirty="0"/>
          </a:p>
        </p:txBody>
      </p:sp>
      <p:sp>
        <p:nvSpPr>
          <p:cNvPr id="7" name="layer 3D 模型"/>
          <p:cNvSpPr/>
          <p:nvPr/>
        </p:nvSpPr>
        <p:spPr>
          <a:xfrm>
            <a:off x="548640" y="256032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3D 模型</a:t>
            </a:r>
            <a:endParaRPr lang="en-US" sz="1800" dirty="0"/>
          </a:p>
        </p:txBody>
      </p:sp>
      <p:sp>
        <p:nvSpPr>
          <p:cNvPr id="9" name="desc 3D 模型"/>
          <p:cNvSpPr/>
          <p:nvPr/>
        </p:nvSpPr>
        <p:spPr>
          <a:xfrm>
            <a:off x="2834640" y="2560320"/>
            <a:ext cx="8808415" cy="960120"/>
          </a:xfrm>
          <a:prstGeom prst="roundRect">
            <a:avLst>
              <a:gd name="adj" fmla="val 9524"/>
            </a:avLst>
          </a:prstGeom>
          <a:solidFill>
            <a:srgbClr val="F7FB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63240" y="2633472"/>
            <a:ext cx="8351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22"/>
                </a:solidFill>
              </a:rPr>
              <a:t>GLB 前處理流程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解壓縮 → 白模材質 → 減面 → 標準層共用；65 層收斂為 9 個檔（11.6 MB）</a:t>
            </a:r>
            <a:endParaRPr lang="en-US" sz="1600" dirty="0"/>
          </a:p>
        </p:txBody>
      </p:sp>
      <p:sp>
        <p:nvSpPr>
          <p:cNvPr id="11" name="layer 圖資"/>
          <p:cNvSpPr/>
          <p:nvPr/>
        </p:nvSpPr>
        <p:spPr>
          <a:xfrm>
            <a:off x="548640" y="374904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490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圖資</a:t>
            </a:r>
            <a:endParaRPr lang="en-US" sz="1800" dirty="0"/>
          </a:p>
        </p:txBody>
      </p:sp>
      <p:sp>
        <p:nvSpPr>
          <p:cNvPr id="13" name="desc 圖資"/>
          <p:cNvSpPr/>
          <p:nvPr/>
        </p:nvSpPr>
        <p:spPr>
          <a:xfrm>
            <a:off x="2834640" y="3749040"/>
            <a:ext cx="8808415" cy="960120"/>
          </a:xfrm>
          <a:prstGeom prst="roundRect">
            <a:avLst>
              <a:gd name="adj" fmla="val 9524"/>
            </a:avLst>
          </a:prstGeom>
          <a:solidFill>
            <a:srgbClr val="F7FB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3240" y="3822192"/>
            <a:ext cx="8351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22"/>
                </a:solidFill>
              </a:rPr>
              <a:t>國土測繪中心・桃園市・OSM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電子地圖／正射影像（WMTS）、桃園市 3D 建物與社區範圍（MVT）、OSM 建物</a:t>
            </a:r>
            <a:endParaRPr lang="en-US" sz="1600" dirty="0"/>
          </a:p>
        </p:txBody>
      </p:sp>
      <p:sp>
        <p:nvSpPr>
          <p:cNvPr id="15" name="layer 資料服務"/>
          <p:cNvSpPr/>
          <p:nvPr/>
        </p:nvSpPr>
        <p:spPr>
          <a:xfrm>
            <a:off x="548640" y="4937760"/>
            <a:ext cx="2103120" cy="960120"/>
          </a:xfrm>
          <a:prstGeom prst="roundRect">
            <a:avLst>
              <a:gd name="adj" fmla="val 9524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377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資料服務</a:t>
            </a:r>
            <a:endParaRPr lang="en-US" sz="1800" dirty="0"/>
          </a:p>
        </p:txBody>
      </p:sp>
      <p:sp>
        <p:nvSpPr>
          <p:cNvPr id="17" name="desc 資料服務"/>
          <p:cNvSpPr/>
          <p:nvPr/>
        </p:nvSpPr>
        <p:spPr>
          <a:xfrm>
            <a:off x="2834640" y="4937760"/>
            <a:ext cx="8808415" cy="960120"/>
          </a:xfrm>
          <a:prstGeom prst="roundRect">
            <a:avLst>
              <a:gd name="adj" fmla="val 9524"/>
            </a:avLst>
          </a:prstGeom>
          <a:solidFill>
            <a:srgbClr val="F7FB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63240" y="5010912"/>
            <a:ext cx="8351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22"/>
                </a:solidFill>
              </a:rPr>
              <a:t>services 介面層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PoC 以示範資料回應；正式版改接後端 API（住宅、生活圈、環景、同步）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功能示範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7F3D0"/>
                </a:solidFill>
              </a:rPr>
              <a:t>以下每一頁的影片都是實際操作錄影，點擊影片即可播放</a:t>
            </a:r>
            <a:endParaRPr lang="en-US" sz="1800" dirty="0"/>
          </a:p>
        </p:txBody>
      </p:sp>
      <p:pic>
        <p:nvPicPr>
          <p:cNvPr id="4" name="section preview" descr="assets/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97280"/>
            <a:ext cx="4389120" cy="2468880"/>
          </a:xfrm>
          <a:prstGeom prst="rect">
            <a:avLst/>
          </a:prstGeom>
        </p:spPr>
      </p:pic>
      <p:pic>
        <p:nvPicPr>
          <p:cNvPr id="5" name="section preview 2" descr="assets/section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74904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01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2D／3D 圖台與底圖</a:t>
            </a:r>
            <a:endParaRPr lang="en-US" sz="3000" dirty="0"/>
          </a:p>
        </p:txBody>
      </p:sp>
      <p:sp>
        <p:nvSpPr>
          <p:cNvPr id="3" name="video frame 01_overview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01_overview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報價 1-2、1-3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報價 1-2、1-3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42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國土測繪中心電子地圖、正射影像一鍵切換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桃園市 3D 建物（內政部三維建物，含實測高度）呈現城市脈絡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2D／3D 是同一個地圖：切換時選取與查詢條件都保留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02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自訂生活圈</a:t>
            </a:r>
            <a:endParaRPr lang="en-US" sz="3000" dirty="0"/>
          </a:p>
        </p:txBody>
      </p:sp>
      <p:sp>
        <p:nvSpPr>
          <p:cNvPr id="3" name="video frame 02_lifecircle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02_lifecircl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報價 1-5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報價 1-5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42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交通方式（步行／開車）× 時間 5–30 分鐘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半徑＝設定速度 × 時間，圈內住宅與設施即時更新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可改以工作地點、學校為中心找住宅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03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社區 → 房源 → 戶別</a:t>
            </a:r>
            <a:endParaRPr lang="en-US" sz="3000" dirty="0"/>
          </a:p>
        </p:txBody>
      </p:sp>
      <p:sp>
        <p:nvSpPr>
          <p:cNvPr id="3" name="video frame 03_units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03_units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報價 1-6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報價 1-6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42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點社區看總戶數、平台列出售中戶數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房源清單：戶別、格局、坪數、總價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選擇戶別，3D 模型即標示所在樓層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04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在 3D 模型上點樓層</a:t>
            </a:r>
            <a:endParaRPr lang="en-US" sz="3000" dirty="0"/>
          </a:p>
        </p:txBody>
      </p:sp>
      <p:sp>
        <p:nvSpPr>
          <p:cNvPr id="3" name="video frame 04_floorpick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04_floorpick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報價 1-3、1-4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報價 1-3、1-4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48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點 3D 圖台上的 BIM 模型，切換為單棟檢視並標出該樓層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右側列出該層全部戶別與銷售狀態，可再點戶別看詳細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樓層索引標示各層銷售中戶數，一點即換層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05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尚無 BIM 的社區：量體示意</a:t>
            </a:r>
            <a:endParaRPr lang="en-US" sz="3000" dirty="0"/>
          </a:p>
        </p:txBody>
      </p:sp>
      <p:sp>
        <p:nvSpPr>
          <p:cNvPr id="3" name="video frame 05_massing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05_massing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報價 1-4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報價 1-4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42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未取得模型的社區以量體呈現，流程不中斷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選擇戶別時以樓層切片標示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取得 BIM 後於後台更換對應即可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06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生活設施 3D 立標與社區範圍</a:t>
            </a:r>
            <a:endParaRPr lang="en-US" sz="3000" dirty="0"/>
          </a:p>
        </p:txBody>
      </p:sp>
      <p:sp>
        <p:nvSpPr>
          <p:cNvPr id="3" name="video frame 06_layers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06_layers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報價 1-7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報價 1-7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42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生活圈內設施以 3D 立標標示，依類別開關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點選桃園市社區範圍，查看名稱、戶數、樓層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桃園市 3D 建物、社區範圍可各自開關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07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條件篩選與社區比較</a:t>
            </a:r>
            <a:endParaRPr lang="en-US" sz="3000" dirty="0"/>
          </a:p>
        </p:txBody>
      </p:sp>
      <p:sp>
        <p:nvSpPr>
          <p:cNvPr id="3" name="video frame 09_filter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09_filter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報價一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報價一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54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依總價、坪數、房數、是否有 720 環景篩選銷售中戶別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地圖標籤與圈內清單只留下符合的社區，並顯示符合戶數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最多 3 個社區並列比較：價格、單價、環景、周邊 1 公里生活機能，綠底標示最佳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08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線上賞屋：720 環景串接</a:t>
            </a:r>
            <a:endParaRPr lang="en-US" sz="3000" dirty="0"/>
          </a:p>
        </p:txBody>
      </p:sp>
      <p:sp>
        <p:nvSpPr>
          <p:cNvPr id="3" name="video frame 07_vr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07_vr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報價 1-6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報價 1-6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20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戶別詳細頁「開啟 720 環景看屋」直接進入室內環景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拖曳即可 360° 環視；PoC 以 AIHouse 720 作示範連結（非本戶實景）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正式版每戶對應既有環景平台連結，由後台「環景連結管理」維護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09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後台管理系統</a:t>
            </a:r>
            <a:endParaRPr lang="en-US" sz="3000" dirty="0"/>
          </a:p>
        </p:txBody>
      </p:sp>
      <p:sp>
        <p:nvSpPr>
          <p:cNvPr id="3" name="video frame 08_admin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08_admin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報價二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</a:rPr>
              <a:t>報價二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60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9 項功能：社區與模型對應、戶別、環景連結、生活設施、生活圈參數、同步紀錄、帳號權限、操作紀錄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新增社區（尚無 BIM 以量體示意）→ 前台立即呈現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生活圈速度等參數由後台設定，前台即時套用；每一步操作皆留存紀錄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優規功能：超出需求規格的加值項目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</a:rPr>
              <a:t>以下四項不在需求書與報價範圍內，為本團隊於 PoC 階段主動加做，可作為優於規格之加值提案。</a:t>
            </a:r>
            <a:endParaRPr lang="en-US" sz="1500" dirty="0"/>
          </a:p>
        </p:txBody>
      </p:sp>
      <p:sp>
        <p:nvSpPr>
          <p:cNvPr id="4" name="plus card 10"/>
          <p:cNvSpPr/>
          <p:nvPr/>
        </p:nvSpPr>
        <p:spPr>
          <a:xfrm>
            <a:off x="548640" y="1828800"/>
            <a:ext cx="2567864" cy="4023360"/>
          </a:xfrm>
          <a:prstGeom prst="roundRect">
            <a:avLst>
              <a:gd name="adj" fmla="val 427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icon 10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8350F"/>
                </a:solidFill>
              </a:rPr>
              <a:t>公車站牌與經過路線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0192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桃園區 424 個公車站牌真實位置（OpenStreetMap），標示經過路線數</a:t>
            </a:r>
            <a:endParaRPr lang="en-US" sz="1300" dirty="0"/>
          </a:p>
        </p:txBody>
      </p:sp>
      <p:sp>
        <p:nvSpPr>
          <p:cNvPr id="9" name="plus card 11"/>
          <p:cNvSpPr/>
          <p:nvPr/>
        </p:nvSpPr>
        <p:spPr>
          <a:xfrm>
            <a:off x="3390824" y="1828800"/>
            <a:ext cx="2567864" cy="4023360"/>
          </a:xfrm>
          <a:prstGeom prst="roundRect">
            <a:avLst>
              <a:gd name="adj" fmla="val 427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icon 11"/>
          <p:cNvSpPr/>
          <p:nvPr/>
        </p:nvSpPr>
        <p:spPr>
          <a:xfrm>
            <a:off x="3665144" y="2103120"/>
            <a:ext cx="566928" cy="5669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6514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65144" y="28346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8350F"/>
                </a:solidFill>
              </a:rPr>
              <a:t>動態 3D 公車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65144" y="3611880"/>
            <a:ext cx="20192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87 條路線依站序沿 OSM 路網行駛，3D 車身＋行駛軌跡</a:t>
            </a:r>
            <a:endParaRPr lang="en-US" sz="1300" dirty="0"/>
          </a:p>
        </p:txBody>
      </p:sp>
      <p:sp>
        <p:nvSpPr>
          <p:cNvPr id="14" name="plus card 12"/>
          <p:cNvSpPr/>
          <p:nvPr/>
        </p:nvSpPr>
        <p:spPr>
          <a:xfrm>
            <a:off x="6233008" y="1828800"/>
            <a:ext cx="2567864" cy="4023360"/>
          </a:xfrm>
          <a:prstGeom prst="roundRect">
            <a:avLst>
              <a:gd name="adj" fmla="val 427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icon 12"/>
          <p:cNvSpPr/>
          <p:nvPr/>
        </p:nvSpPr>
        <p:spPr>
          <a:xfrm>
            <a:off x="6507328" y="2103120"/>
            <a:ext cx="566928" cy="5669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0732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28346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8350F"/>
                </a:solidFill>
              </a:rPr>
              <a:t>單棟 three.js 檢視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611880"/>
            <a:ext cx="20192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點 BIM 模型即切換為單棟 3D，環繞、縮放、平移</a:t>
            </a:r>
            <a:endParaRPr lang="en-US" sz="1300" dirty="0"/>
          </a:p>
        </p:txBody>
      </p:sp>
      <p:sp>
        <p:nvSpPr>
          <p:cNvPr id="19" name="plus card 13"/>
          <p:cNvSpPr/>
          <p:nvPr/>
        </p:nvSpPr>
        <p:spPr>
          <a:xfrm>
            <a:off x="9075191" y="1828800"/>
            <a:ext cx="2567864" cy="4023360"/>
          </a:xfrm>
          <a:prstGeom prst="roundRect">
            <a:avLst>
              <a:gd name="adj" fmla="val 4273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icon 13"/>
          <p:cNvSpPr/>
          <p:nvPr/>
        </p:nvSpPr>
        <p:spPr>
          <a:xfrm>
            <a:off x="9349511" y="2103120"/>
            <a:ext cx="566928" cy="5669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4951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49511" y="28346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8350F"/>
                </a:solidFill>
              </a:rPr>
              <a:t>3D GIS 視野分析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49511" y="3611880"/>
            <a:ext cx="20192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從選定樓層以視線演算法（Line of Sight）計算可見範圍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10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公車站牌與經過路線</a:t>
            </a:r>
            <a:endParaRPr lang="en-US" sz="3000" dirty="0"/>
          </a:p>
        </p:txBody>
      </p:sp>
      <p:sp>
        <p:nvSpPr>
          <p:cNvPr id="3" name="video frame 10_busstops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10_busstops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優規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優規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42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桃園區 424 個公車站牌真實位置（OpenStreetMap），標示經過路線數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點站牌列出各路線與起訖站；生活機能與社區比較加入公車站數、路線數、最近站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路線資料：桃園市公車動態資訊系統（2017）；正式版改接交通部 TDX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11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動態 3D 公車</a:t>
            </a:r>
            <a:endParaRPr lang="en-US" sz="3000" dirty="0"/>
          </a:p>
        </p:txBody>
      </p:sp>
      <p:sp>
        <p:nvSpPr>
          <p:cNvPr id="3" name="video frame 11_bus3d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11_bus3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優規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優規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45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87 條路線依站序沿 OSM 路網行駛，3D 車身＋行駛軌跡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1×／10×／30× 倍速；點公車標出整條路線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目前為模擬；正式版改接 TDX 公車即時位置即為實際動態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12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單棟 three.js 檢視</a:t>
            </a:r>
            <a:endParaRPr lang="en-US" sz="3000" dirty="0"/>
          </a:p>
        </p:txBody>
      </p:sp>
      <p:sp>
        <p:nvSpPr>
          <p:cNvPr id="3" name="video frame 12_building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12_building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優規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優規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45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點 BIM 模型即切換為單棟 3D，環繞、縮放、平移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剖切樓層、分層展開、棟別篩選，看清每一層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樓層索引顯示各層銷售中戶數，與右側房源清單連動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9669"/>
                </a:solidFill>
              </a:rPr>
              <a:t>13  </a:t>
            </a:r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3D GIS 視野分析</a:t>
            </a:r>
            <a:endParaRPr lang="en-US" sz="3000" dirty="0"/>
          </a:p>
        </p:txBody>
      </p:sp>
      <p:sp>
        <p:nvSpPr>
          <p:cNvPr id="3" name="video frame 13_viewshed"/>
          <p:cNvSpPr/>
          <p:nvPr/>
        </p:nvSpPr>
        <p:spPr>
          <a:xfrm>
            <a:off x="493776" y="1225296"/>
            <a:ext cx="8110728" cy="4610291"/>
          </a:xfrm>
          <a:prstGeom prst="roundRect">
            <a:avLst>
              <a:gd name="adj" fmla="val 1587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pic>
        <p:nvPicPr>
          <p:cNvPr id="3" name="video 13_viewshe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" y="1280160"/>
            <a:ext cx="8001000" cy="4500563"/>
          </a:xfrm>
          <a:prstGeom prst="rect">
            <a:avLst/>
          </a:prstGeom>
        </p:spPr>
      </p:pic>
      <p:sp>
        <p:nvSpPr>
          <p:cNvPr id="5" name="pill 優規"/>
          <p:cNvSpPr/>
          <p:nvPr/>
        </p:nvSpPr>
        <p:spPr>
          <a:xfrm>
            <a:off x="8961120" y="1325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61120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優規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0" y="1325880"/>
            <a:ext cx="853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影片 37 秒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1920240"/>
            <a:ext cx="26819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從選定樓層以視線演算法（Line of Sight）計算可見範圍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綠＝看得到、紅＝被建物遮蔽；顯示可見面積比例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建物高度取自桃園市三維建物（4 公尺網格），可比較不同樓層景觀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0" y="5460683"/>
            <a:ext cx="2681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點擊影片播放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圖資來源與授權狀態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2194560"/>
                <a:gridCol w="368777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圖資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來源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用途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狀態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電子地圖／正射影像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內政部國土測繪中心 WMTS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2D 底圖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47857"/>
                          </a:solidFill>
                        </a:rPr>
                        <a:t>可直接使用（政府開放資料，須標示出處）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3D 建物／社區範圍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桃園市政府地政局 MVT（桃寶網）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城市脈絡、社區資訊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</a:rPr>
                        <a:t>非公開服務，須申請授權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分戶產權面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桃園市政府地政局 MVT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戶別層級 3D 高亮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45309"/>
                          </a:solidFill>
                        </a:rPr>
                        <a:t>含產權資料，授權後評估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OSM 建物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OpenFreeMap／OpenStreetMap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遠景補充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47857"/>
                          </a:solidFill>
                        </a:rPr>
                        <a:t>開放授權（ODbL）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社區、房源、銷售狀態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既有可負擔住宅交易平台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住宅與戶別資料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</a:rPr>
                        <a:t>待取得 API 規格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BIM 模型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建商交付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</a:rPr>
                        <a:t>建物 3D 模型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B7280"/>
                          </a:solidFill>
                        </a:rPr>
                        <a:t>PoC 以替代模型驗證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A22"/>
                </a:solidFill>
              </a:rPr>
              <a:t>對照提案：已完成與待開發</a:t>
            </a:r>
            <a:endParaRPr lang="en-US" sz="3000" dirty="0"/>
          </a:p>
        </p:txBody>
      </p:sp>
      <p:sp>
        <p:nvSpPr>
          <p:cNvPr id="3" name="group 前台圖台（報價一）"/>
          <p:cNvSpPr/>
          <p:nvPr/>
        </p:nvSpPr>
        <p:spPr>
          <a:xfrm>
            <a:off x="548640" y="132588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</a:rPr>
              <a:t>前台圖台（報價一）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●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2D／3D 圖台、底圖切換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614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●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7614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自訂生活圈與圈內查詢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2841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●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3284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社區 → 戶別 → 樓層高亮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9534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06"/>
                </a:solidFill>
              </a:rPr>
              <a:t>◐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8953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生活設施圖層（示範資料）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622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9669"/>
                </a:solidFill>
              </a:rPr>
              <a:t>●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462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條件篩選、社區比較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292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○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029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RWD、無障礙、手冊、測試</a:t>
            </a:r>
            <a:endParaRPr lang="en-US" sz="1400" dirty="0"/>
          </a:p>
        </p:txBody>
      </p:sp>
      <p:sp>
        <p:nvSpPr>
          <p:cNvPr id="17" name="group 後台管理（報價二）"/>
          <p:cNvSpPr/>
          <p:nvPr/>
        </p:nvSpPr>
        <p:spPr>
          <a:xfrm>
            <a:off x="4398264" y="132588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672584" y="1554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</a:rPr>
              <a:t>後台管理（報價二）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672584" y="2194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06"/>
                </a:solidFill>
              </a:rPr>
              <a:t>◐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084064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住宅與建物、模型對應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672584" y="27614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06"/>
                </a:solidFill>
              </a:rPr>
              <a:t>◐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084064" y="27614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戶別、環景連結管理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72584" y="332841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06"/>
                </a:solidFill>
              </a:rPr>
              <a:t>◐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084064" y="33284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生活設施圖層、生活圈參數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672584" y="389534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06"/>
                </a:solidFill>
              </a:rPr>
              <a:t>◐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084064" y="389534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資料同步、帳號權限、操作紀錄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72584" y="44622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後台介面完成，資料暫存瀏覽器</a:t>
            </a:r>
            <a:endParaRPr lang="en-US" sz="1200" dirty="0"/>
          </a:p>
        </p:txBody>
      </p:sp>
      <p:sp>
        <p:nvSpPr>
          <p:cNvPr id="28" name="group 服務與資安（報價三）"/>
          <p:cNvSpPr/>
          <p:nvPr/>
        </p:nvSpPr>
        <p:spPr>
          <a:xfrm>
            <a:off x="8247888" y="132588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522208" y="1554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服務與資安（報價三）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522208" y="2194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○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933688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後端 API 與 PostGIS 空間查詢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522208" y="27614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○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933688" y="27614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既有平台資料介接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522208" y="332841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○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933688" y="33284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</a:rPr>
              <a:t>雲端主機與資安檢測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●  已完成（PoC）　◐  部分完成　○  尚未開發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6053328"/>
            <a:ext cx="6522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另有優規（超出規格）：公車站牌、動態 3D 公車、單棟 three.js 檢視、3D GIS 視野分析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下一步</a:t>
            </a:r>
            <a:endParaRPr lang="en-US" sz="4000" dirty="0"/>
          </a:p>
        </p:txBody>
      </p:sp>
      <p:sp>
        <p:nvSpPr>
          <p:cNvPr id="3" name="icon 1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3657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外部依賴先確認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交易平台 API 規格、樣本 BIM、720 平台連結規則、地政局圖層授權</a:t>
            </a:r>
            <a:endParaRPr lang="en-US" sz="1500" dirty="0"/>
          </a:p>
        </p:txBody>
      </p:sp>
      <p:sp>
        <p:nvSpPr>
          <p:cNvPr id="7" name="icon 2"/>
          <p:cNvSpPr/>
          <p:nvPr/>
        </p:nvSpPr>
        <p:spPr>
          <a:xfrm>
            <a:off x="548640" y="466344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4617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後端與後台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4617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後台介面已完成；接上資料庫與 API，取代瀏覽器暫存與 PoC 寫死的設定</a:t>
            </a:r>
            <a:endParaRPr lang="en-US" sz="1500" dirty="0"/>
          </a:p>
        </p:txBody>
      </p:sp>
      <p:sp>
        <p:nvSpPr>
          <p:cNvPr id="11" name="icon 3"/>
          <p:cNvSpPr/>
          <p:nvPr/>
        </p:nvSpPr>
        <p:spPr>
          <a:xfrm>
            <a:off x="548640" y="562356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5623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5577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前台補齊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5577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真實生活設施資料、手機版與無障礙、使用者手冊與測試</a:t>
            </a:r>
            <a:endParaRPr lang="en-US" sz="1500" dirty="0"/>
          </a:p>
        </p:txBody>
      </p:sp>
      <p:sp>
        <p:nvSpPr>
          <p:cNvPr id="15" name="Text 0"/>
          <p:cNvSpPr/>
          <p:nvPr>
            <p:ph idx="101" type="body" hasCustomPrompt="1"/>
          </p:nvPr>
        </p:nvSpPr>
        <p:spPr>
          <a:xfrm>
            <a:off x="548640" y="35661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fordable Housing 3D">
  <a:themeElements>
    <a:clrScheme name="Affordable Housing 3D">
      <a:dk1>
        <a:srgbClr val="1F2937"/>
      </a:dk1>
      <a:lt1>
        <a:srgbClr val="FFFFFF"/>
      </a:lt1>
      <a:dk2>
        <a:srgbClr val="0F2A22"/>
      </a:dk2>
      <a:lt2>
        <a:srgbClr val="ECFDF5"/>
      </a:lt2>
      <a:accent1>
        <a:srgbClr val="059669"/>
      </a:accent1>
      <a:accent2>
        <a:srgbClr val="047857"/>
      </a:accent2>
      <a:accent3>
        <a:srgbClr val="65A30D"/>
      </a:accent3>
      <a:accent4>
        <a:srgbClr val="2563EB"/>
      </a:accent4>
      <a:accent5>
        <a:srgbClr val="E11D48"/>
      </a:accent5>
      <a:accent6>
        <a:srgbClr val="6B7280"/>
      </a:accent6>
      <a:hlink>
        <a:srgbClr val="047857"/>
      </a:hlink>
      <a:folHlink>
        <a:srgbClr val="6B7280"/>
      </a:folHlink>
    </a:clrScheme>
    <a:fontScheme name="Affordable Housing 3D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可負擔住宅三維圖台 PoC 功能介紹</dc:title>
  <dc:subject>PptxGenJS Presentation</dc:subject>
  <dc:creator>OneWork</dc:creator>
  <cp:lastModifiedBy>OneWork</cp:lastModifiedBy>
  <cp:revision>1</cp:revision>
  <dcterms:created xsi:type="dcterms:W3CDTF">2026-10-16T04:58:41Z</dcterms:created>
  <dcterms:modified xsi:type="dcterms:W3CDTF">2026-10-16T04:58:41Z</dcterms:modified>
</cp:coreProperties>
</file>